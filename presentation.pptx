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85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605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79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85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394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04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719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30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629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589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9E05-90BF-49E3-A5DA-67AC11D2C249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948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39E05-90BF-49E3-A5DA-67AC11D2C249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9A966-9F02-4A34-AAAF-767AAF2F7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115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mailto:grundigk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Аналитики данных видят главное в океане информации</a:t>
            </a:r>
            <a:endParaRPr lang="ru-RU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u-RU" sz="3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Проект: «Продажи» первый модуль обучения.</a:t>
            </a:r>
          </a:p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«Продавцы и покупатели»: аналитический обзор.</a:t>
            </a:r>
          </a:p>
          <a:p>
            <a:endParaRPr lang="ru-RU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708" y="1122363"/>
            <a:ext cx="364807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37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Оглавление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Blip>
                <a:blip r:embed="rId2"/>
              </a:buBlip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Введение</a:t>
            </a:r>
          </a:p>
          <a:p>
            <a:pPr>
              <a:buBlip>
                <a:blip r:embed="rId2"/>
              </a:buBlip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Анализ эффективности продавцов</a:t>
            </a:r>
          </a:p>
          <a:p>
            <a:pPr>
              <a:buBlip>
                <a:blip r:embed="rId2"/>
              </a:buBlip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Обзор активности целевых групп </a:t>
            </a:r>
          </a:p>
          <a:p>
            <a:pPr>
              <a:buBlip>
                <a:blip r:embed="rId2"/>
              </a:buBlip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Корреляция потока покупателей с полученной прибылью</a:t>
            </a:r>
          </a:p>
          <a:p>
            <a:pPr>
              <a:buBlip>
                <a:blip r:embed="rId2"/>
              </a:buBlip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Специальное предложение товара как инструмент</a:t>
            </a:r>
          </a:p>
          <a:p>
            <a:pPr>
              <a:buBlip>
                <a:blip r:embed="rId2"/>
              </a:buBlip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  <a:p>
            <a:pPr>
              <a:buBlip>
                <a:blip r:embed="rId2"/>
              </a:buBlip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Blip>
                <a:blip r:embed="rId2"/>
              </a:buBlip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Blip>
                <a:blip r:embed="rId2"/>
              </a:buBlip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362" y="365125"/>
            <a:ext cx="1837438" cy="38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54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Введение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Это первая презентация первого этапа обучения профессии «Аналитик данных» от экосистемы </a:t>
            </a:r>
            <a:r>
              <a:rPr lang="ru-R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Хекслет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Это первое применение навыков получения данных через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запросы.</a:t>
            </a:r>
          </a:p>
          <a:p>
            <a:pPr marL="0" indent="0">
              <a:buNone/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Это первое использование инструмента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Superset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Теперь начнем…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362" y="365125"/>
            <a:ext cx="1837438" cy="383799"/>
          </a:xfrm>
          <a:prstGeom prst="rect">
            <a:avLst/>
          </a:prstGeom>
        </p:spPr>
      </p:pic>
      <p:sp>
        <p:nvSpPr>
          <p:cNvPr id="4" name="Овал 3"/>
          <p:cNvSpPr/>
          <p:nvPr/>
        </p:nvSpPr>
        <p:spPr>
          <a:xfrm>
            <a:off x="839792" y="4697079"/>
            <a:ext cx="1576136" cy="1479884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958557" y="5113855"/>
            <a:ext cx="1338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2596613" y="4697079"/>
            <a:ext cx="1576136" cy="1479884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2715378" y="5253978"/>
            <a:ext cx="1338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DBeaver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4355026" y="4697079"/>
            <a:ext cx="1576136" cy="1479884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4473791" y="5252354"/>
            <a:ext cx="1338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SQL Query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6183952" y="4697079"/>
            <a:ext cx="1576136" cy="1479884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6302717" y="5252354"/>
            <a:ext cx="1338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.CSV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8012879" y="4697079"/>
            <a:ext cx="1576136" cy="1479884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8177756" y="5252354"/>
            <a:ext cx="1338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Superset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9777664" y="4697079"/>
            <a:ext cx="1576136" cy="1479884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9866172" y="5252354"/>
            <a:ext cx="1487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Presentation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Стрелка вправо 17"/>
          <p:cNvSpPr/>
          <p:nvPr/>
        </p:nvSpPr>
        <p:spPr>
          <a:xfrm>
            <a:off x="2414336" y="5340788"/>
            <a:ext cx="182277" cy="19246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 вправо 18"/>
          <p:cNvSpPr/>
          <p:nvPr/>
        </p:nvSpPr>
        <p:spPr>
          <a:xfrm>
            <a:off x="4180452" y="5340788"/>
            <a:ext cx="178664" cy="19246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 вправо 19"/>
          <p:cNvSpPr/>
          <p:nvPr/>
        </p:nvSpPr>
        <p:spPr>
          <a:xfrm>
            <a:off x="5938864" y="5340788"/>
            <a:ext cx="245087" cy="19246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право 20"/>
          <p:cNvSpPr/>
          <p:nvPr/>
        </p:nvSpPr>
        <p:spPr>
          <a:xfrm>
            <a:off x="7758220" y="5340788"/>
            <a:ext cx="254658" cy="19246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трелка вправо 21"/>
          <p:cNvSpPr/>
          <p:nvPr/>
        </p:nvSpPr>
        <p:spPr>
          <a:xfrm>
            <a:off x="9589016" y="5340788"/>
            <a:ext cx="188648" cy="19246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58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Анализ эффективности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продавцов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Анализ:</a:t>
            </a: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Из диаграммы видно что больше половины</a:t>
            </a:r>
          </a:p>
          <a:p>
            <a:pPr marL="0" indent="0">
              <a:buNone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д</a:t>
            </a: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охода компании приносят три специалиста:</a:t>
            </a:r>
          </a:p>
          <a:p>
            <a:pPr>
              <a:buFontTx/>
              <a:buChar char="-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Dirk Stringer</a:t>
            </a: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Michel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DeFrance</a:t>
            </a: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Albert Ringer</a:t>
            </a: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Суммарный доход по результатам их</a:t>
            </a: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работы составляет 10.89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 $ (53,26%)</a:t>
            </a:r>
          </a:p>
          <a:p>
            <a:pPr marL="0" indent="0">
              <a:buNone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Выводы и рекомендации:</a:t>
            </a:r>
          </a:p>
          <a:p>
            <a:pPr>
              <a:buFontTx/>
              <a:buChar char="-"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Премировать лучших сотрудников</a:t>
            </a:r>
          </a:p>
          <a:p>
            <a:pPr>
              <a:buFontTx/>
              <a:buChar char="-"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Организовать передачу опыта</a:t>
            </a:r>
          </a:p>
          <a:p>
            <a:pPr>
              <a:buFontTx/>
              <a:buChar char="-"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Выявить методы работы лучших </a:t>
            </a: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и распространить в компании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362" y="365125"/>
            <a:ext cx="1837438" cy="3837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694" y="1967706"/>
            <a:ext cx="7176837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8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Обзор активности целевых групп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76137"/>
            <a:ext cx="10515600" cy="46008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Анализ:</a:t>
            </a: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Диаграмма показывает что продукт лучше</a:t>
            </a: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распространяется в возрастной категории</a:t>
            </a: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«40+» и по убывающей категории</a:t>
            </a: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«26-40», «16-25» соответственно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Выводы и рекомендации:</a:t>
            </a:r>
          </a:p>
          <a:p>
            <a:pPr>
              <a:buFontTx/>
              <a:buChar char="-"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Провести дополнительное продвижение</a:t>
            </a: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продукта в группах «16-25», «26-40» </a:t>
            </a:r>
          </a:p>
          <a:p>
            <a:pPr>
              <a:buFontTx/>
              <a:buChar char="-"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Провести подробное исследование</a:t>
            </a:r>
          </a:p>
          <a:p>
            <a:pPr marL="0" indent="0">
              <a:buNone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атегории «40+» в разрезе изучения более</a:t>
            </a: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узких подкатегорий.</a:t>
            </a:r>
          </a:p>
          <a:p>
            <a:pPr>
              <a:buFontTx/>
              <a:buChar char="-"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Найти паттерны поведения покупателей</a:t>
            </a: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перед покупкой и использовать их для целевого</a:t>
            </a: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привлечения новых клиентов.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362" y="365125"/>
            <a:ext cx="1837438" cy="3837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585" y="2000125"/>
            <a:ext cx="741045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80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Корреляция потока покупателей с полученной прибылью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87378"/>
            <a:ext cx="10515600" cy="51799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Поток покупателей 					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Анализ: На графиках видно, что между первым и вторым периодом наблюдается резкий всплеск дохода с последующим плавным затуханием, что говорит о возможной рекламной акции сентября в начале продвижения продукта. О плавном затухании можно сделать предположение, что покупатели используют один экземпляр продукта.  </a:t>
            </a: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Рекомендации: При достижении показателей прибыли в 7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провести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повторно рекламную акцию. Так же дополнительно провести исследование о полезном использовании продукта, и при приближении срока его экспирации подготовить выход на рынок новой версии продукта с дополнительным функционалом.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362" y="365125"/>
            <a:ext cx="1837438" cy="38379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956" y="1505201"/>
            <a:ext cx="9001125" cy="311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6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Специальное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предложение товара как инструмент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87378"/>
            <a:ext cx="10515600" cy="51799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Таблица отражает когда был куплен первый раз товар по акции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Анализ: Как мы и предполагали ранее, акция по специальному предложению проводилась в сентябре, менеджер который больше всего ее применил -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Michael O`Leary. </a:t>
            </a: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Так же можно обратить внимание что с самого начала продвижения продукта в ней участвовал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Dirk Stringer</a:t>
            </a: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– это менеджер с максимальными продажами по итогу периода.</a:t>
            </a:r>
          </a:p>
          <a:p>
            <a:pPr marL="0" indent="0">
              <a:buNone/>
            </a:pP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Рекомендации: Сравнить методы менеджеров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Michael O`Leary </a:t>
            </a: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с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Dirk Stringer </a:t>
            </a:r>
            <a:r>
              <a:rPr lang="ru-R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в период акции. По итогу выпустить алгоритм действий менеджеров в период акций продвижения товара и распространить в компании.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362" y="365125"/>
            <a:ext cx="1837438" cy="383799"/>
          </a:xfrm>
          <a:prstGeom prst="rect">
            <a:avLst/>
          </a:prstGeom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276843"/>
              </p:ext>
            </p:extLst>
          </p:nvPr>
        </p:nvGraphicFramePr>
        <p:xfrm>
          <a:off x="2114550" y="1564105"/>
          <a:ext cx="7962900" cy="3667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4300">
                  <a:extLst>
                    <a:ext uri="{9D8B030D-6E8A-4147-A177-3AD203B41FA5}">
                      <a16:colId xmlns:a16="http://schemas.microsoft.com/office/drawing/2014/main" val="1274899341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112107988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136881562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u="none" strike="noStrike">
                          <a:effectLst/>
                        </a:rPr>
                        <a:t>Покупатель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u="none" strike="noStrike">
                          <a:effectLst/>
                        </a:rPr>
                        <a:t>Дата акции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u="none" strike="noStrike">
                          <a:effectLst/>
                        </a:rPr>
                        <a:t>Менеджер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41412985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Cristina Xu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Abraham Bennet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001358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Mario Rai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Abraham Bennet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529885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Richard Martinez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Abraham Bennet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145354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Jared Gray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Dirk Stringer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6708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Kaitlyn Allen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Dirk Stringer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501457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Karen Huang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1992-09-21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Dirk Stringer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093792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Krista Gill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Marjorie Green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791639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Levi Gonzalez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Marjorie Green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52083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Tyrone Ruiz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Marjorie Green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510537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Jacob Martinez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Michael O'Leary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6298705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Kristen Li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Michael O'Leary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2956898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Mya Coleman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1992-09-24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Michael O'Leary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90765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Olivia Bennett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Michael O'Leary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2988804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Samuel Sharma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Michael O'Leary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254034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Willie Gao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1992-09-22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Michael O'Leary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8895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994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79884"/>
            <a:ext cx="10515600" cy="507732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В рамках проекта «Продажи» от экосистемы </a:t>
            </a:r>
            <a:r>
              <a:rPr lang="ru-R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Хекслет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проведена работа по анализу покупателей и продавцов. Выводы сделаны по каждой диаграмме и графику по данным полученным от заказчика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	Предварительно данные были обработаны и подготовлены для обработки их в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Superset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с формированием </a:t>
            </a:r>
            <a:r>
              <a:rPr lang="ru-R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дашборда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 Составлена презентация.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Ссылка на </a:t>
            </a:r>
            <a:r>
              <a:rPr lang="ru-R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дашборд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https://73eb9877.us1a.app.preset.io/superset/dashboard/8/?edit=true&amp;native_filters_key=ToOAWsEkNB4</a:t>
            </a:r>
            <a:endParaRPr lang="ru-RU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Проект 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подготовил: Константин Игнатенко,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grundigk@gmail.com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Спасибо </a:t>
            </a: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за внимание.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362" y="365125"/>
            <a:ext cx="1837438" cy="38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45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403</Words>
  <Application>Microsoft Office PowerPoint</Application>
  <PresentationFormat>Широкоэкранный</PresentationFormat>
  <Paragraphs>143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Аналитики данных видят главное в океане информации</vt:lpstr>
      <vt:lpstr>Оглавление</vt:lpstr>
      <vt:lpstr>Введение</vt:lpstr>
      <vt:lpstr>Анализ эффективности продавцов</vt:lpstr>
      <vt:lpstr>Обзор активности целевых групп</vt:lpstr>
      <vt:lpstr>Корреляция потока покупателей с полученной прибылью</vt:lpstr>
      <vt:lpstr>Специальное предложение товара как инструмент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Аналитики данных видят главное в океане информации</dc:title>
  <dc:creator>Игнатенко Константин Юрьевич</dc:creator>
  <cp:lastModifiedBy>Игнатенко Константин Юрьевич</cp:lastModifiedBy>
  <cp:revision>36</cp:revision>
  <dcterms:created xsi:type="dcterms:W3CDTF">2026-03-27T10:18:06Z</dcterms:created>
  <dcterms:modified xsi:type="dcterms:W3CDTF">2026-04-02T05:53:19Z</dcterms:modified>
</cp:coreProperties>
</file>